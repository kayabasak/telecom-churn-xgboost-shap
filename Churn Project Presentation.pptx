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edium-bold.fntdata"/><Relationship Id="rId27" Type="http://schemas.openxmlformats.org/officeDocument/2006/relationships/font" Target="fonts/Robot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6632cf15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6632cf15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632cf15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6632cf15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6632cf15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6632cf15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632cf15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632cf15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632cf15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632cf15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18d04c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18d04c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18d04c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18d04c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018d04c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018d04c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18d04c7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018d04c7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18d04c7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18d04c7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018d04c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018d04c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18d04c7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018d04c7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018d04c7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018d04c7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0aad620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0aad620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0be22e3d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0be22e3d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be22e3d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be22e3d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KayaBasak/telecom-churn-xgboost-shap" TargetMode="External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KayaBasak/data-science-portfolio" TargetMode="External"/><Relationship Id="rId4" Type="http://schemas.openxmlformats.org/officeDocument/2006/relationships/hyperlink" Target="https://medium.com/@bskky001" TargetMode="External"/><Relationship Id="rId5" Type="http://schemas.openxmlformats.org/officeDocument/2006/relationships/hyperlink" Target="https://www.linkedin.com/in/basak-kaya-3372b11b6?lipi=urn%3Ali%3Apage%3Ad_flagship3_profile_view_base_contact_details%3BO8030jYPSheO2deeIbm4Gg%3D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717625"/>
            <a:ext cx="8222100" cy="17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2700"/>
              <a:t>Predicting Customer Churn in Telecommunications Using Logistic Regression and XGBoost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2000"/>
              <a:t>MIE 1628 Cloud-Based Data Analytics - Project Presentation</a:t>
            </a:r>
            <a:endParaRPr sz="20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20"/>
            <a:ext cx="8222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Basak Kaya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2025-12-09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04837"/>
            <a:ext cx="4572000" cy="2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Project Overview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Goal:</a:t>
            </a:r>
            <a:br>
              <a:rPr lang="tr" sz="1400"/>
            </a:br>
            <a:r>
              <a:rPr lang="tr" sz="1400"/>
              <a:t>Predict telecom customer churn using machine learning deployed in Microsoft Azure ML.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Objectives: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Analyze telecom customer behavior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Build ML models (Logistic Regression + XGBoost)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Evaluate and compare performance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Explain model results using SHAP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Generate actionable business insights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2000"/>
              <a:t> </a:t>
            </a:r>
            <a:r>
              <a:rPr b="1" lang="tr" sz="2000"/>
              <a:t>EDA</a:t>
            </a:r>
            <a:r>
              <a:rPr lang="tr" sz="2000"/>
              <a:t>          </a:t>
            </a:r>
            <a:r>
              <a:rPr b="1" lang="tr" sz="2000"/>
              <a:t>Modeling</a:t>
            </a:r>
            <a:r>
              <a:rPr lang="tr" sz="2000"/>
              <a:t>           </a:t>
            </a:r>
            <a:r>
              <a:rPr b="1" lang="tr" sz="2000"/>
              <a:t>SHAP</a:t>
            </a:r>
            <a:r>
              <a:rPr lang="tr" sz="2000"/>
              <a:t>           </a:t>
            </a:r>
            <a:r>
              <a:rPr b="1" lang="tr" sz="2000"/>
              <a:t>Insights</a:t>
            </a:r>
            <a:endParaRPr b="1" sz="2000"/>
          </a:p>
        </p:txBody>
      </p:sp>
      <p:sp>
        <p:nvSpPr>
          <p:cNvPr id="76" name="Google Shape;76;p14"/>
          <p:cNvSpPr/>
          <p:nvPr/>
        </p:nvSpPr>
        <p:spPr>
          <a:xfrm>
            <a:off x="1247875" y="4503275"/>
            <a:ext cx="3798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941150" y="4503275"/>
            <a:ext cx="3798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300700" y="4503275"/>
            <a:ext cx="3798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Dataset Description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Dataset: </a:t>
            </a:r>
            <a:r>
              <a:rPr lang="tr" sz="1400"/>
              <a:t>Iranian Telecom Churn Dataset</a:t>
            </a:r>
            <a:br>
              <a:rPr lang="tr" sz="1400"/>
            </a:br>
            <a:r>
              <a:rPr b="1" lang="tr" sz="1400"/>
              <a:t>Size: </a:t>
            </a:r>
            <a:r>
              <a:rPr lang="tr" sz="1400"/>
              <a:t>3150 customers</a:t>
            </a:r>
            <a:br>
              <a:rPr lang="tr" sz="1400"/>
            </a:br>
            <a:r>
              <a:rPr b="1" lang="tr" sz="1400"/>
              <a:t>Features:</a:t>
            </a:r>
            <a:r>
              <a:rPr lang="tr" sz="1400"/>
              <a:t> 13 attributes + churn label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/>
              <a:t>Examples: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Usage patterns (seconds of use, SMS, calls)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Customer engagement (subscription length, distinct numbers)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Service indicators (complaints, call failures)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Demographics (age, age group)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226075" y="357800"/>
            <a:ext cx="2808000" cy="144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Tools and Technologies</a:t>
            </a:r>
            <a:endParaRPr sz="3200"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226075" y="2003275"/>
            <a:ext cx="2808000" cy="26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latin typeface="Roboto Medium"/>
                <a:ea typeface="Roboto Medium"/>
                <a:cs typeface="Roboto Medium"/>
                <a:sym typeface="Roboto Medium"/>
              </a:rPr>
              <a:t>Azure Machine Learning Workspace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latin typeface="Roboto Medium"/>
                <a:ea typeface="Roboto Medium"/>
                <a:cs typeface="Roboto Medium"/>
                <a:sym typeface="Roboto Medium"/>
              </a:rPr>
              <a:t>Azure Compute Instance for Jupyter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latin typeface="Roboto Medium"/>
                <a:ea typeface="Roboto Medium"/>
                <a:cs typeface="Roboto Medium"/>
                <a:sym typeface="Roboto Medium"/>
              </a:rPr>
              <a:t>Python (Pandas, Scikit-Learn, XGBoost, SHAP)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latin typeface="Roboto Medium"/>
                <a:ea typeface="Roboto Medium"/>
                <a:cs typeface="Roboto Medium"/>
                <a:sym typeface="Roboto Medium"/>
              </a:rPr>
              <a:t>Azure Storage for dataset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latin typeface="Roboto Medium"/>
                <a:ea typeface="Roboto Medium"/>
                <a:cs typeface="Roboto Medium"/>
                <a:sym typeface="Roboto Medium"/>
              </a:rPr>
              <a:t>Matplotlib for visualizations</a:t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675" y="2517500"/>
            <a:ext cx="5161324" cy="262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3278" y="98150"/>
            <a:ext cx="2356353" cy="2356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1181" y="98150"/>
            <a:ext cx="2356352" cy="2356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Data Preprocessing &amp; Cleaning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Steps Performed: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Checked for missing values (none found)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Verified data types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Outlier inspection via boxplots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Logical consistency checks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</a:pPr>
            <a:r>
              <a:rPr lang="tr"/>
              <a:t>e.g., zero subscription length + usage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Prepared dataset for ML 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</a:pPr>
            <a:r>
              <a:rPr lang="tr"/>
              <a:t>encoding already provided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751" y="1722844"/>
            <a:ext cx="4518250" cy="3420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Exploratory Data Analysis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5752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25"/>
              <a:t>📉 Data is </a:t>
            </a:r>
            <a:r>
              <a:rPr lang="tr" sz="1725"/>
              <a:t>imbalanced</a:t>
            </a:r>
            <a:endParaRPr sz="17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25"/>
              <a:t>⚠️ Complaints strongly correlate with churn</a:t>
            </a:r>
            <a:endParaRPr sz="17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25"/>
              <a:t>📞 Churners show significantly lower usage</a:t>
            </a:r>
            <a:endParaRPr sz="17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25"/>
              <a:t>📅  Shorter subscription lengths → higher churn likelihood</a:t>
            </a:r>
            <a:endParaRPr sz="17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725"/>
              <a:t>👩🏻‍🦳 Mid-age groups churn more</a:t>
            </a:r>
            <a:endParaRPr sz="17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7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226075" y="357800"/>
            <a:ext cx="2808000" cy="18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EDA Chart: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Churn Distribution</a:t>
            </a:r>
            <a:endParaRPr sz="32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226075" y="2343875"/>
            <a:ext cx="2808000" cy="22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The dataset is moderately imbalanced.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453" y="700075"/>
            <a:ext cx="448627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226075" y="357800"/>
            <a:ext cx="2808000" cy="18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EDA Chart: Complaints vs. Churn</a:t>
            </a:r>
            <a:endParaRPr sz="32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226075" y="2322175"/>
            <a:ext cx="2808000" cy="23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Complaint filers churn far more frequently.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478" y="700088"/>
            <a:ext cx="52292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471900" y="343525"/>
            <a:ext cx="8222100" cy="11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EDA Chart: Usage &amp; Subscription Length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Lower usage + shorter tenure are strong churn indicators.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25" y="2036950"/>
            <a:ext cx="4104651" cy="2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037" y="1943275"/>
            <a:ext cx="3714962" cy="27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Modeling Approach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Models Used: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Logistic Regression (with scaling)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XGBoost Classifier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Why These Models: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Logistic Regression → baseline, interpretable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 sz="1400"/>
              <a:t>XGBoost → powerful gradient boosting, best performance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/>
              <a:t>Train/Test Split:</a:t>
            </a:r>
            <a:r>
              <a:rPr lang="tr" sz="1400"/>
              <a:t> 70/30 stratified</a:t>
            </a:r>
            <a:br>
              <a:rPr lang="tr" sz="1400"/>
            </a:br>
            <a:r>
              <a:rPr b="1" lang="tr" sz="1400"/>
              <a:t>Metrics: </a:t>
            </a:r>
            <a:r>
              <a:rPr lang="tr" sz="1400"/>
              <a:t>Accuracy, Precision, Recall, F1, ROC-AUC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Model Performance Comparison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/>
              <a:t>Logistic Regression: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Accuracy: 0.844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Precision: 0.50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Recall: 0.89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F1: 0.64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ROC-AUC: 0.93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/>
              <a:t>XGBoost: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Accuracy: 0.949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Precision: 0.88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Recall: 0.79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F1: 0.83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ROC-AUC: 0.98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Confusion Matrices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471900" y="4075450"/>
            <a:ext cx="39999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>
                <a:latin typeface="Roboto Medium"/>
                <a:ea typeface="Roboto Medium"/>
                <a:cs typeface="Roboto Medium"/>
                <a:sym typeface="Roboto Medium"/>
              </a:rPr>
              <a:t>Logistic Regression → high recall, lower precision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7" name="Google Shape;147;p24"/>
          <p:cNvSpPr txBox="1"/>
          <p:nvPr>
            <p:ph idx="2" type="body"/>
          </p:nvPr>
        </p:nvSpPr>
        <p:spPr>
          <a:xfrm>
            <a:off x="4694250" y="3997375"/>
            <a:ext cx="39999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>
                <a:latin typeface="Roboto Medium"/>
                <a:ea typeface="Roboto Medium"/>
                <a:cs typeface="Roboto Medium"/>
                <a:sym typeface="Roboto Medium"/>
              </a:rPr>
              <a:t>XGBoost → balanced and more accurate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1733150"/>
            <a:ext cx="2938676" cy="226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251" y="1772188"/>
            <a:ext cx="2598130" cy="21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SHAP Interpretability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/>
              <a:t>Insights: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Complaints</a:t>
            </a:r>
            <a:r>
              <a:rPr lang="tr"/>
              <a:t>, subscription length, and usage frequency are top drivers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Lower usage → positive SHAP value → higher churn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tr"/>
              <a:t>High customer value → negative SHAP → retention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175" y="1690100"/>
            <a:ext cx="4065600" cy="34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226075" y="357800"/>
            <a:ext cx="2808000" cy="18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Predicting a New Customer</a:t>
            </a:r>
            <a:endParaRPr sz="3200"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226075" y="2343875"/>
            <a:ext cx="2808000" cy="22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Medium"/>
              <a:buChar char="●"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Predicted class: 1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 Medium"/>
              <a:buChar char="●"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Churn probability: 0.999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1700">
                <a:latin typeface="Roboto Medium"/>
                <a:ea typeface="Roboto Medium"/>
                <a:cs typeface="Roboto Medium"/>
                <a:sym typeface="Roboto Medium"/>
              </a:rPr>
              <a:t>Insight: </a:t>
            </a:r>
            <a:r>
              <a:rPr i="1" lang="tr" sz="1700">
                <a:latin typeface="Roboto Medium"/>
                <a:ea typeface="Roboto Medium"/>
                <a:cs typeface="Roboto Medium"/>
                <a:sym typeface="Roboto Medium"/>
              </a:rPr>
              <a:t>Model can be used for real-time churn scoring.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228" y="152400"/>
            <a:ext cx="4407980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Key Takeaways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tr" sz="1729"/>
              <a:t>Churn is heavily influenced by engagement, complaints, and tenure</a:t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tr" sz="1729"/>
              <a:t>XGBoost significantly outperformed Logistic Regression</a:t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tr" sz="1729"/>
              <a:t>SHAP enabled transparent, explainable ML</a:t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tr" sz="1729"/>
              <a:t>Cloud-based ML pipeline built end-to-end in Azure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GitHub Repository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/>
              <a:t>Full Project:</a:t>
            </a:r>
            <a:br>
              <a:rPr lang="tr" sz="1700"/>
            </a:br>
            <a:r>
              <a:rPr lang="tr" sz="1700" u="sng">
                <a:hlinkClick r:id="rId3"/>
              </a:rPr>
              <a:t>https://github.com/KayaBasak/telecom-churn-xgboost-shap</a:t>
            </a:r>
            <a:r>
              <a:rPr lang="tr" sz="1700"/>
              <a:t>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/>
              <a:t>Includes:</a:t>
            </a:r>
            <a:br>
              <a:rPr lang="tr" sz="1700"/>
            </a:br>
            <a:r>
              <a:rPr lang="tr" sz="1700"/>
              <a:t> ✔ Code</a:t>
            </a:r>
            <a:br>
              <a:rPr lang="tr" sz="1700"/>
            </a:br>
            <a:r>
              <a:rPr lang="tr" sz="1700"/>
              <a:t> ✔ Notebook</a:t>
            </a:r>
            <a:br>
              <a:rPr lang="tr" sz="1700"/>
            </a:br>
            <a:r>
              <a:rPr lang="tr" sz="1700"/>
              <a:t> ✔ Final PDF Report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6975" y="20549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ctrTitle"/>
          </p:nvPr>
        </p:nvSpPr>
        <p:spPr>
          <a:xfrm>
            <a:off x="390525" y="727025"/>
            <a:ext cx="8222100" cy="10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/>
              <a:t>Thank You! </a:t>
            </a:r>
            <a:endParaRPr sz="3200"/>
          </a:p>
        </p:txBody>
      </p:sp>
      <p:sp>
        <p:nvSpPr>
          <p:cNvPr id="182" name="Google Shape;182;p29"/>
          <p:cNvSpPr txBox="1"/>
          <p:nvPr>
            <p:ph idx="1" type="subTitle"/>
          </p:nvPr>
        </p:nvSpPr>
        <p:spPr>
          <a:xfrm>
            <a:off x="390525" y="2181096"/>
            <a:ext cx="8222100" cy="22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74930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Char char="●"/>
            </a:pP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🐙 </a:t>
            </a:r>
            <a:r>
              <a:rPr b="1" lang="tr" sz="1700" u="sng">
                <a:latin typeface="Georgia"/>
                <a:ea typeface="Georgia"/>
                <a:cs typeface="Georgia"/>
                <a:sym typeface="Georgia"/>
                <a:hlinkClick r:id="rId3"/>
              </a:rPr>
              <a:t>GitHub</a:t>
            </a: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: code + projects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74930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Char char="●"/>
            </a:pP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✍️ </a:t>
            </a:r>
            <a:r>
              <a:rPr b="1" lang="tr" sz="1700" u="sng">
                <a:latin typeface="Georgia"/>
                <a:ea typeface="Georgia"/>
                <a:cs typeface="Georgia"/>
                <a:sym typeface="Georgia"/>
                <a:hlinkClick r:id="rId4"/>
              </a:rPr>
              <a:t>Medium</a:t>
            </a: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: more posts like this one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74930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Char char="●"/>
            </a:pP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💼 </a:t>
            </a:r>
            <a:r>
              <a:rPr b="1" lang="tr" sz="1700" u="sng">
                <a:latin typeface="Georgia"/>
                <a:ea typeface="Georgia"/>
                <a:cs typeface="Georgia"/>
                <a:sym typeface="Georgia"/>
                <a:hlinkClick r:id="rId5"/>
              </a:rPr>
              <a:t>LinkedIn</a:t>
            </a:r>
            <a:r>
              <a:rPr lang="tr" sz="1700">
                <a:latin typeface="Georgia"/>
                <a:ea typeface="Georgia"/>
                <a:cs typeface="Georgia"/>
                <a:sym typeface="Georgia"/>
              </a:rPr>
              <a:t>: let’s connect!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